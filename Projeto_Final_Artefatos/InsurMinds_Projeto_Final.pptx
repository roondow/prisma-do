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97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Compare apólices D&amp;O em minutos —
e veja a página de onde saiu cada número.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Projeto Final · InsurMinds · Instituto de Inteligência Artificial Aplicada (I2A2)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O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Apólices D&amp;O têm 30 a 70 páginas de linguagem jurídica, e cada seguradora redige do seu jeito.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72 páginas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numa só condição geral (Chubb D&amp;O Capital Aberto)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de especialista para comparar duas propostas lendo cláusula por cláusula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10312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26771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detalhes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063240"/>
            <a:ext cx="3291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decidem o valor: quando a exclusão de dolo se aplica, se a defesa é adiantada, qual a retroatividade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10"/>
              </a:spcAft>
            </a:pPr>
            <a:r>
              <a:rPr sz="1800" b="0">
                <a:solidFill>
                  <a:srgbClr val="141C2E"/>
                </a:solidFill>
                <a:latin typeface="Segoe UI"/>
              </a:rPr>
              <a:t>E um erro de leitura não é neutro: é o administrador descobrindo, no meio de um processo, que o bloqueio dos seus bens não estava coberto.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Uma plataforma de agentes de IA que lê, organiza, verifica e compara.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Lê </a:t>
            </a:r>
            <a:r>
              <a:rPr sz="1900">
                <a:solidFill>
                  <a:srgbClr val="5B6477"/>
                </a:solidFill>
                <a:latin typeface="Segoe UI"/>
              </a:rPr>
              <a:t>PDF digital, PDF escaneado e foto — com OCR gratuito e offline.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Extrai </a:t>
            </a:r>
            <a:r>
              <a:rPr sz="1900">
                <a:solidFill>
                  <a:srgbClr val="5B6477"/>
                </a:solidFill>
                <a:latin typeface="Segoe UI"/>
              </a:rPr>
              <a:t>36 campos D&amp;O com o trecho literal e a página de cada valor.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Verifica </a:t>
            </a:r>
            <a:r>
              <a:rPr sz="1900">
                <a:solidFill>
                  <a:srgbClr val="5B6477"/>
                </a:solidFill>
                <a:latin typeface="Segoe UI"/>
              </a:rPr>
              <a:t>cada evidência automaticamente antes de mostrar.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Compara </a:t>
            </a:r>
            <a:r>
              <a:rPr sz="1900">
                <a:solidFill>
                  <a:srgbClr val="5B6477"/>
                </a:solidFill>
                <a:latin typeface="Segoe UI"/>
              </a:rPr>
              <a:t>campo a campo, com regras de favorabilidade declaradas.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Aponta </a:t>
            </a:r>
            <a:r>
              <a:rPr sz="1900">
                <a:solidFill>
                  <a:srgbClr val="5B6477"/>
                </a:solidFill>
                <a:latin typeface="Segoe UI"/>
              </a:rPr>
              <a:t>indícios de desconformidade com a Circular SUSEP 637/2021.</a:t>
            </a:r>
          </a:p>
          <a:p>
            <a:pPr>
              <a:spcAft>
                <a:spcPts val="1330"/>
              </a:spcAft>
            </a:pPr>
            <a:r>
              <a:rPr b="1" sz="1900">
                <a:solidFill>
                  <a:srgbClr val="141C2E"/>
                </a:solidFill>
                <a:latin typeface="Segoe UI"/>
              </a:rPr>
              <a:t>Responde </a:t>
            </a:r>
            <a:r>
              <a:rPr sz="1900">
                <a:solidFill>
                  <a:srgbClr val="5B6477"/>
                </a:solidFill>
                <a:latin typeface="Segoe UI"/>
              </a:rPr>
              <a:t>perguntas com citação e gera o relatório comparativo em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103120"/>
            <a:ext cx="4023360" cy="3108960"/>
          </a:xfrm>
          <a:prstGeom prst="roundRect">
            <a:avLst/>
          </a:prstGeom>
          <a:solidFill>
            <a:srgbClr val="14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33172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Princípio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Nenhum valor aparece sem um trecho que exista na página citada.</a:t>
            </a:r>
          </a:p>
          <a:p>
            <a:pPr algn="l">
              <a:spcAft>
                <a:spcPts val="855"/>
              </a:spcAft>
            </a:pPr>
            <a:r>
              <a:rPr sz="1900" b="0">
                <a:solidFill>
                  <a:srgbClr val="FFFFFF"/>
                </a:solidFill>
                <a:latin typeface="Segoe UI"/>
              </a:rPr>
              <a:t>O LLM lê e redige. O código confere, compara e decide.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Como funciona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Nove agentes especializados orquestrados em dois grafos LangGraph.</a:t>
            </a:r>
          </a:p>
        </p:txBody>
      </p:sp>
      <p:pic>
        <p:nvPicPr>
          <p:cNvPr id="6" name="Picture 5" descr="diagrama_arquite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10515600" cy="53212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Na prática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Três cotações para a mesma empresa, em formatos diferentes, lado a lado.</a:t>
            </a:r>
          </a:p>
        </p:txBody>
      </p:sp>
      <p:pic>
        <p:nvPicPr>
          <p:cNvPr id="6" name="Picture 5" descr="05_comparacao_qua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589520" cy="4743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210312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Verde </a:t>
            </a:r>
            <a:r>
              <a:rPr sz="1600">
                <a:solidFill>
                  <a:srgbClr val="5B6477"/>
                </a:solidFill>
                <a:latin typeface="Segoe UI"/>
              </a:rPr>
              <a:t>= mais favorável ao segurado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Vermelho </a:t>
            </a:r>
            <a:r>
              <a:rPr sz="1600">
                <a:solidFill>
                  <a:srgbClr val="5B6477"/>
                </a:solidFill>
                <a:latin typeface="Segoe UI"/>
              </a:rPr>
              <a:t>= menos favorável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p. </a:t>
            </a:r>
            <a:r>
              <a:rPr sz="1600">
                <a:solidFill>
                  <a:srgbClr val="5B6477"/>
                </a:solidFill>
                <a:latin typeface="Segoe UI"/>
              </a:rPr>
              <a:t>= página da evidência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Por quê? </a:t>
            </a:r>
            <a:r>
              <a:rPr sz="1600">
                <a:solidFill>
                  <a:srgbClr val="5B6477"/>
                </a:solidFill>
                <a:latin typeface="Segoe UI"/>
              </a:rPr>
              <a:t>cada classificação cita a regra e o fundamento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Cada número é provado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O Verificador só aprova um valor que passa em quatro testes.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1. O trecho existe </a:t>
            </a:r>
            <a:r>
              <a:rPr sz="1800">
                <a:solidFill>
                  <a:srgbClr val="5B6477"/>
                </a:solidFill>
                <a:latin typeface="Segoe UI"/>
              </a:rPr>
              <a:t>na página citada (similaridade ≥ 0,90, tolerante a OCR).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2. Fala do assunto </a:t>
            </a:r>
            <a:r>
              <a:rPr sz="1800">
                <a:solidFill>
                  <a:srgbClr val="5B6477"/>
                </a:solidFill>
                <a:latin typeface="Segoe UI"/>
              </a:rPr>
              <a:t>do campo — não basta a palavra “Contratada”.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3. Contém o número </a:t>
            </a:r>
            <a:r>
              <a:rPr sz="1800">
                <a:solidFill>
                  <a:srgbClr val="5B6477"/>
                </a:solidFill>
                <a:latin typeface="Segoe UI"/>
              </a:rPr>
              <a:t>extraído: R$ 30.000.000,00 tem que estar no trecho.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4. Não é instrução </a:t>
            </a:r>
            <a:r>
              <a:rPr sz="1800">
                <a:solidFill>
                  <a:srgbClr val="5B6477"/>
                </a:solidFill>
                <a:latin typeface="Segoe UI"/>
              </a:rPr>
              <a:t>dirigida a IA escondida no documento.</a:t>
            </a:r>
          </a:p>
        </p:txBody>
      </p:sp>
      <p:pic>
        <p:nvPicPr>
          <p:cNvPr id="7" name="Picture 6" descr="03_ficha_cobertu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Conformidade regulatória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11 regras declaradas, cada uma com o trecho literal da norma.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19 — </a:t>
            </a:r>
            <a:r>
              <a:rPr sz="1700">
                <a:solidFill>
                  <a:srgbClr val="5B6477"/>
                </a:solidFill>
                <a:latin typeface="Segoe UI"/>
              </a:rPr>
              <a:t>a cotação Cruzeiro não indica prazo adicional para reclamações.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9º, II — </a:t>
            </a:r>
            <a:r>
              <a:rPr sz="1700">
                <a:solidFill>
                  <a:srgbClr val="5B6477"/>
                </a:solidFill>
                <a:latin typeface="Segoe UI"/>
              </a:rPr>
              <a:t>achado real: as condições da Argo não mencionam livre escolha do advogado nem profissionais referenciados.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Art. 17 — </a:t>
            </a:r>
            <a:r>
              <a:rPr sz="1700">
                <a:solidFill>
                  <a:srgbClr val="5B6477"/>
                </a:solidFill>
                <a:latin typeface="Segoe UI"/>
              </a:rPr>
              <a:t>retroatividade precisa estar indicada em destaque.</a:t>
            </a:r>
          </a:p>
          <a:p>
            <a:pPr>
              <a:spcAft>
                <a:spcPts val="1189"/>
              </a:spcAft>
            </a:pPr>
            <a:r>
              <a:rPr b="1" sz="1700">
                <a:solidFill>
                  <a:srgbClr val="141C2E"/>
                </a:solidFill>
                <a:latin typeface="Segoe UI"/>
              </a:rPr>
              <a:t>Lei 15.040/2024 — </a:t>
            </a:r>
            <a:r>
              <a:rPr sz="1700">
                <a:solidFill>
                  <a:srgbClr val="5B6477"/>
                </a:solidFill>
                <a:latin typeface="Segoe UI"/>
              </a:rPr>
              <a:t>sinaliza condições que não citam a nova Lei de Seguros.</a:t>
            </a:r>
          </a:p>
        </p:txBody>
      </p:sp>
      <p:pic>
        <p:nvPicPr>
          <p:cNvPr id="7" name="Picture 6" descr="06_comparacao_conform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937760" cy="3086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0">
                <a:solidFill>
                  <a:srgbClr val="5B6477"/>
                </a:solidFill>
                <a:latin typeface="Segoe UI"/>
              </a:rPr>
              <a:t>Indícios para revisão humana — não é parecer jurídico.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Resultados medidos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Contra um gabarito anotado à mão. Só conta o valor verificado.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98%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acurácia sem chave de API
(conjunto de desenvolvimento)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sem chave em documentos
nunca vistos (holdout)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74336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74336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79%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com LLM gratuito no holdout
(onde as regras não bastam)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87184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87184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0.03%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24344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erro de caractere do OCR
(por linha)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2194560"/>
            <a:ext cx="2075688" cy="2377440"/>
          </a:xfrm>
          <a:prstGeom prst="roundRect">
            <a:avLst>
              <a:gd name="adj" fmla="val 8000"/>
            </a:avLst>
          </a:prstGeom>
          <a:solidFill>
            <a:srgbClr val="22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2359152"/>
            <a:ext cx="207568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D8B877"/>
                </a:solidFill>
                <a:latin typeface="Segoe UI"/>
              </a:rPr>
              <a:t>15/15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3154680"/>
            <a:ext cx="1801368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injeções de prompt barradas
0 falso positivo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F2F5FA"/>
                </a:solidFill>
                <a:latin typeface="Segoe UI"/>
              </a:rPr>
              <a:t>Publicamos o holdout de propósito: as regras foram escritas sobre as seguradoras que lemos; o LLM é o que generaliza.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Por que confiar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Decisões que tornam o resultado auditável.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Regras em YAML, </a:t>
            </a:r>
            <a:r>
              <a:rPr sz="1800">
                <a:solidFill>
                  <a:srgbClr val="5B6477"/>
                </a:solidFill>
                <a:latin typeface="Segoe UI"/>
              </a:rPr>
              <a:t>não no código nem no LLM: mudar uma regra muda o quadro — e dá para explicar ao cliente.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Roda sem chave: </a:t>
            </a:r>
            <a:r>
              <a:rPr sz="1800">
                <a:solidFill>
                  <a:srgbClr val="5B6477"/>
                </a:solidFill>
                <a:latin typeface="Segoe UI"/>
              </a:rPr>
              <a:t>modo determinístico completo; com chave gratuita, o LLM amplia a cobertura.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Custo zero: </a:t>
            </a:r>
            <a:r>
              <a:rPr sz="1800">
                <a:solidFill>
                  <a:srgbClr val="5B6477"/>
                </a:solidFill>
                <a:latin typeface="Segoe UI"/>
              </a:rPr>
              <a:t>Gemini, Groq e NVIDIA em cascata, com troca automática quando um provedor cai.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OCR por página: </a:t>
            </a:r>
            <a:r>
              <a:rPr sz="1800">
                <a:solidFill>
                  <a:srgbClr val="5B6477"/>
                </a:solidFill>
                <a:latin typeface="Segoe UI"/>
              </a:rPr>
              <a:t>apólice real mistura páginas escaneadas e digitais.</a:t>
            </a:r>
          </a:p>
          <a:p>
            <a:pPr>
              <a:spcAft>
                <a:spcPts val="1260"/>
              </a:spcAft>
            </a:pPr>
            <a:r>
              <a:rPr b="1" sz="1800">
                <a:solidFill>
                  <a:srgbClr val="141C2E"/>
                </a:solidFill>
                <a:latin typeface="Segoe UI"/>
              </a:rPr>
              <a:t>Rastro completo: </a:t>
            </a:r>
            <a:r>
              <a:rPr sz="1800">
                <a:solidFill>
                  <a:srgbClr val="5B6477"/>
                </a:solidFill>
                <a:latin typeface="Segoe UI"/>
              </a:rPr>
              <a:t>cada agente registra o que fez e quanto tempo levou.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Limites honestos e 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B03A2E"/>
                </a:solidFill>
                <a:latin typeface="Segoe UI"/>
              </a:rPr>
              <a:t>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Regras </a:t>
            </a:r>
            <a:r>
              <a:rPr sz="1600">
                <a:solidFill>
                  <a:srgbClr val="5B6477"/>
                </a:solidFill>
                <a:latin typeface="Segoe UI"/>
              </a:rPr>
              <a:t>sem LLM caem em seguradora nova.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Números </a:t>
            </a:r>
            <a:r>
              <a:rPr sz="1600">
                <a:solidFill>
                  <a:srgbClr val="5B6477"/>
                </a:solidFill>
                <a:latin typeface="Segoe UI"/>
              </a:rPr>
              <a:t>de apólice real são privados: a demo usa cotações fictícias.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“Não localizado” </a:t>
            </a:r>
            <a:r>
              <a:rPr sz="1600">
                <a:solidFill>
                  <a:srgbClr val="5B6477"/>
                </a:solidFill>
                <a:latin typeface="Segoe UI"/>
              </a:rPr>
              <a:t>pode estar em outro documento da apólice.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Favorabilidade </a:t>
            </a:r>
            <a:r>
              <a:rPr sz="1600">
                <a:solidFill>
                  <a:srgbClr val="5B6477"/>
                </a:solidFill>
                <a:latin typeface="Segoe UI"/>
              </a:rPr>
              <a:t>por campo, sem perfil de risco.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554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2000" b="1">
                <a:solidFill>
                  <a:srgbClr val="2E7D4F"/>
                </a:solidFill>
                <a:latin typeface="Segoe UI"/>
              </a:rPr>
              <a:t>Próximos passos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Pacote da apólice: </a:t>
            </a:r>
            <a:r>
              <a:rPr sz="1600">
                <a:solidFill>
                  <a:srgbClr val="5B6477"/>
                </a:solidFill>
                <a:latin typeface="Segoe UI"/>
              </a:rPr>
              <a:t>especificação + condições + endossos.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Mais seguradoras </a:t>
            </a:r>
            <a:r>
              <a:rPr sz="1600">
                <a:solidFill>
                  <a:srgbClr val="5B6477"/>
                </a:solidFill>
                <a:latin typeface="Segoe UI"/>
              </a:rPr>
              <a:t>e dois anotadores.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Diferença de versões </a:t>
            </a:r>
            <a:r>
              <a:rPr sz="1600">
                <a:solidFill>
                  <a:srgbClr val="5B6477"/>
                </a:solidFill>
                <a:latin typeface="Segoe UI"/>
              </a:rPr>
              <a:t>da mesma seguradora.</a:t>
            </a:r>
          </a:p>
          <a:p>
            <a:pPr>
              <a:spcAft>
                <a:spcPts val="1120"/>
              </a:spcAft>
            </a:pPr>
            <a:r>
              <a:rPr b="1" sz="1600">
                <a:solidFill>
                  <a:srgbClr val="141C2E"/>
                </a:solidFill>
                <a:latin typeface="Segoe UI"/>
              </a:rPr>
              <a:t>LLM local </a:t>
            </a:r>
            <a:r>
              <a:rPr sz="1600">
                <a:solidFill>
                  <a:srgbClr val="5B6477"/>
                </a:solidFill>
                <a:latin typeface="Segoe UI"/>
              </a:rPr>
              <a:t>para quem não pode enviar documentos para fora.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5B6477"/>
                </a:solidFill>
                <a:latin typeface="Segoe UI"/>
              </a:rPr>
              <a:t>PRISMA D&amp;O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Para quem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822960" cy="38000"/>
          </a:xfrm>
          <a:prstGeom prst="rect">
            <a:avLst/>
          </a:prstGeom>
          <a:solidFill>
            <a:srgbClr val="D8B8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20"/>
              </a:spcAft>
            </a:pPr>
            <a:r>
              <a:rPr sz="1600" b="0">
                <a:solidFill>
                  <a:srgbClr val="5B6477"/>
                </a:solidFill>
                <a:latin typeface="Segoe UI"/>
              </a:rPr>
              <a:t>Apoio à decisão em quem lê apólice D&amp;O todos os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Corretores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comparar propostas e explicar ao cliente onde cada uma é melhor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Gestores de risco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conferir renovação e mudanças de redação entre versões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1945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359152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141C2E"/>
                </a:solidFill>
                <a:latin typeface="Segoe UI"/>
              </a:rPr>
              <a:t>Seguradoras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54680"/>
            <a:ext cx="3291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62"/>
              </a:spcAft>
            </a:pPr>
            <a:r>
              <a:rPr sz="1250" b="0">
                <a:solidFill>
                  <a:srgbClr val="5B6477"/>
                </a:solidFill>
                <a:latin typeface="Segoe UI"/>
              </a:rPr>
              <a:t>revisar conformidade de condições com a Circular 637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0">
                <a:solidFill>
                  <a:srgbClr val="D8B877"/>
                </a:solidFill>
                <a:latin typeface="Segoe UI"/>
              </a:rPr>
              <a:t>PRISMA D&amp;O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PRISMA D&amp;O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0">
                <a:solidFill>
                  <a:srgbClr val="D8B877"/>
                </a:solidFill>
                <a:latin typeface="Segoe UI"/>
              </a:rPr>
              <a:t>Cada número, com 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Código aberto (MIT) · README com instalação e execução</a:t>
            </a:r>
          </a:p>
          <a:p>
            <a:pPr algn="l">
              <a:spcAft>
                <a:spcPts val="765"/>
              </a:spcAft>
            </a:pPr>
            <a:r>
              <a:rPr sz="1700" b="0">
                <a:solidFill>
                  <a:srgbClr val="F2F5FA"/>
                </a:solidFill>
                <a:latin typeface="Segoe UI"/>
              </a:rPr>
              <a:t>Relatório técnico e vídeo em Projeto_Final_Artefatos/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